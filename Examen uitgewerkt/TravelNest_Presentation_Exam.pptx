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360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E5A8A-EFED-0F5B-2B2A-1A9B9FD78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FF493-9FFF-74EC-1FF8-067F33F9F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CF3B6-AA42-E16C-044F-6336BB9A2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4714B-175C-830F-3C7B-5CC86FB16D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97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8D8D6"/>
          </a:solidFill>
          <a:ln w="12700">
            <a:solidFill>
              <a:srgbClr val="68D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TravelNest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12648" y="11521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5E8"/>
                </a:solidFill>
              </a:rPr>
              <a:t>Data Engineering PowerPoint based exactly on notebook outputs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664208"/>
            <a:ext cx="5943600" cy="0"/>
          </a:xfrm>
          <a:prstGeom prst="line">
            <a:avLst/>
          </a:prstGeom>
          <a:noFill/>
          <a:ln w="25400">
            <a:solidFill>
              <a:srgbClr val="68D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8D8D6"/>
                </a:solidFill>
              </a:rPr>
              <a:t>Strategic question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2359152"/>
            <a:ext cx="74066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drives booking revenue and customer lifetime value, and how do accommodation quality, cancellation behaviour, and geography impact long-term platform performance?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3931920"/>
            <a:ext cx="15087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1EC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050792"/>
            <a:ext cx="1179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8D8D6"/>
                </a:solidFill>
              </a:rPr>
              <a:t>55,550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E6B7A"/>
                </a:solidFill>
              </a:rPr>
              <a:t>Fact rows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331720" y="3931920"/>
            <a:ext cx="18288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1EC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96312" y="4050792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ADCB3"/>
                </a:solidFill>
              </a:rPr>
              <a:t>Star schema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496312" y="43891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E6B7A"/>
                </a:solidFill>
              </a:rPr>
              <a:t>Gold model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343400" y="3931920"/>
            <a:ext cx="1783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1EC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07992" y="4050792"/>
            <a:ext cx="1453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C94C"/>
                </a:solidFill>
              </a:rPr>
              <a:t>€64.03M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07992" y="438912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E6B7A"/>
                </a:solidFill>
              </a:rPr>
              <a:t>Revenue base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1143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1EC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4050792"/>
            <a:ext cx="813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994A"/>
                </a:solidFill>
              </a:rPr>
              <a:t>7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438912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E6B7A"/>
                </a:solidFill>
              </a:rPr>
              <a:t>Visualisations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658368" y="63276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5E8"/>
                </a:solidFill>
              </a:rPr>
              <a:t>Google Colab · PySpark · Spark SQL · Delta Lake MERGE · Matplotlib/Seaborn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49640" y="457200"/>
            <a:ext cx="3108960" cy="3108960"/>
          </a:xfrm>
          <a:prstGeom prst="arc">
            <a:avLst/>
          </a:prstGeom>
          <a:noFill/>
          <a:ln w="25400">
            <a:solidFill>
              <a:srgbClr val="68D8D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06840" y="914400"/>
            <a:ext cx="2194560" cy="2194560"/>
          </a:xfrm>
          <a:prstGeom prst="arc">
            <a:avLst/>
          </a:prstGeom>
          <a:noFill/>
          <a:ln w="25400">
            <a:solidFill>
              <a:srgbClr val="F2C94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464040" y="1371600"/>
            <a:ext cx="1280160" cy="1280160"/>
          </a:xfrm>
          <a:prstGeom prst="arc">
            <a:avLst/>
          </a:prstGeom>
          <a:noFill/>
          <a:ln w="25400">
            <a:solidFill>
              <a:srgbClr val="7ADCB3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39328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Raw -&gt; Bronze -&gt; Silver -&gt; Gold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39328" y="4407408"/>
            <a:ext cx="3200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5E8"/>
                </a:solidFill>
              </a:rPr>
              <a:t>One clean analytical model for revenue, CLV, quality, cancellations and geography</a:t>
            </a:r>
            <a:endParaRPr lang="en-US" sz="12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2B5E4740-7C80-876A-82C5-F51C85B686C9}"/>
              </a:ext>
            </a:extLst>
          </p:cNvPr>
          <p:cNvSpPr/>
          <p:nvPr/>
        </p:nvSpPr>
        <p:spPr>
          <a:xfrm>
            <a:off x="612648" y="5773655"/>
            <a:ext cx="2268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5E8"/>
                </a:solidFill>
              </a:rPr>
              <a:t>Chaybon Verlooy – BADI 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D120D-25B0-C279-FE2B-6CF083A2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03AD7AE6-928A-84E7-9AFA-86C055E3A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875"/>
            <a:ext cx="12192000" cy="6902450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ACE94EA6-C3F3-8D4A-B8B0-3183530F9F79}"/>
              </a:ext>
            </a:extLst>
          </p:cNvPr>
          <p:cNvSpPr/>
          <p:nvPr/>
        </p:nvSpPr>
        <p:spPr>
          <a:xfrm>
            <a:off x="11351895" y="66294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086717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Business understanding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question translated into measurable analytical drivers.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TravelNest_Medallion_Complete.ipynb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430"/>
                </a:solidFill>
              </a:rPr>
              <a:t>Business objective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1719072"/>
            <a:ext cx="5212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</a:rPr>
              <a:t>Build a Medallion data pipeline and produce evidence-based insights on revenue, customer lifetime value, quality, cancellations and geography.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430"/>
                </a:solidFill>
              </a:rPr>
              <a:t>Data sources used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46520" y="173736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D8E1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56248" y="1815084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C2430"/>
                </a:solidFill>
              </a:rPr>
              <a:t>bookings.csv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8869680" y="173736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EAFBF7"/>
          </a:solidFill>
          <a:ln w="12700">
            <a:solidFill>
              <a:srgbClr val="D8E1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79408" y="1815084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C2430"/>
                </a:solidFill>
              </a:rPr>
              <a:t>customers.csv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446520" y="224028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D8E1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56248" y="2318004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C2430"/>
                </a:solidFill>
              </a:rPr>
              <a:t>accommodations.csv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8869680" y="224028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EAFBF7"/>
          </a:solidFill>
          <a:ln w="12700">
            <a:solidFill>
              <a:srgbClr val="D8E1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79408" y="2318004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C2430"/>
                </a:solidFill>
              </a:rPr>
              <a:t>rooms.csv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446520" y="274320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D8E1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56248" y="2820924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C2430"/>
                </a:solidFill>
              </a:rPr>
              <a:t>payments.csv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8869680" y="274320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EAFBF7"/>
          </a:solidFill>
          <a:ln w="12700">
            <a:solidFill>
              <a:srgbClr val="D8E1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79408" y="2820924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C2430"/>
                </a:solidFill>
              </a:rPr>
              <a:t>reviews.csv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446520" y="324612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D8E1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56248" y="3323844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C2430"/>
                </a:solidFill>
              </a:rPr>
              <a:t>accommodation_categories.csv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566928" y="3675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430"/>
                </a:solidFill>
              </a:rPr>
              <a:t>Core drivers in the notebook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0080" y="4187952"/>
            <a:ext cx="31821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4672" y="43068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80ED"/>
                </a:solidFill>
              </a:rPr>
              <a:t>Accommodation type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4672" y="45354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E6B7A"/>
                </a:solidFill>
              </a:rPr>
              <a:t>Revenue by category and property type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389120" y="4187952"/>
            <a:ext cx="31821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53712" y="43068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80ED"/>
                </a:solidFill>
              </a:rPr>
              <a:t>Customer behaviour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53712" y="45354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E6B7A"/>
                </a:solidFill>
              </a:rPr>
              <a:t>CLV, top customers, repeat booking value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8138160" y="4187952"/>
            <a:ext cx="31821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02752" y="43068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80ED"/>
                </a:solidFill>
              </a:rPr>
              <a:t>Geography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02752" y="45354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E6B7A"/>
                </a:solidFill>
              </a:rPr>
              <a:t>Country cancellation rates and city revenue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640080" y="5138928"/>
            <a:ext cx="31821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4672" y="5257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80ED"/>
                </a:solidFill>
              </a:rPr>
              <a:t>Quality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04672" y="54864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E6B7A"/>
                </a:solidFill>
              </a:rPr>
              <a:t>Review score vs revenue correlation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4389120" y="5138928"/>
            <a:ext cx="31821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53712" y="5257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80ED"/>
                </a:solidFill>
              </a:rPr>
              <a:t>Cancellations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53712" y="54864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E6B7A"/>
                </a:solidFill>
              </a:rPr>
              <a:t>Completed, no-show, late and on-time classification</a:t>
            </a:r>
            <a:endParaRPr lang="en-US" sz="83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Architecture design — Bronze / Silver / Gold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implementation: Raw CSVs are ingested, cleansed and modelled into Delta Gold tables via MERGE.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TravelNest_Medallion_Complete.ipynb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21488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142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842"/>
                </a:solidFill>
              </a:rPr>
              <a:t>RAW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" y="24505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30"/>
                </a:solidFill>
              </a:rPr>
              <a:t>Original CSV files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E6B7A"/>
                </a:solidFill>
              </a:rPr>
              <a:t>Never modified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3218688" y="1847088"/>
            <a:ext cx="21488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202996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80ED"/>
                </a:solidFill>
              </a:rPr>
              <a:t>BRONZE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01568" y="24505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30"/>
                </a:solidFill>
              </a:rPr>
              <a:t>Parquet raw ingestion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01568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E6B7A"/>
                </a:solidFill>
              </a:rPr>
              <a:t>Schema/string preservation + ingestion_timestamp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5870448" y="1847088"/>
            <a:ext cx="21488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7ADC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202996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ADCB3"/>
                </a:solidFill>
              </a:rPr>
              <a:t>SILVER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053328" y="24505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30"/>
                </a:solidFill>
              </a:rPr>
              <a:t>Cleaned &amp; standardised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53328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E6B7A"/>
                </a:solidFill>
              </a:rPr>
              <a:t>Casting, null handling, DQ decisions, SCD2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522208" y="1847088"/>
            <a:ext cx="21488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0" y="202996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C94C"/>
                </a:solidFill>
              </a:rPr>
              <a:t>GOLD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705088" y="24505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30"/>
                </a:solidFill>
              </a:rPr>
              <a:t>Delta star schema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05088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E6B7A"/>
                </a:solidFill>
              </a:rPr>
              <a:t>MERGE/upsert only, business-ready KPIs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594360" y="4242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430"/>
                </a:solidFill>
              </a:rPr>
              <a:t>Implementation facts from notebook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" y="4681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0ED"/>
                </a:solidFill>
              </a:rPr>
              <a:t>Bronze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00200" y="468172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430"/>
                </a:solidFill>
              </a:rPr>
              <a:t>all seven CSV files loaded as-is and saved as Parquet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5001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0ED"/>
                </a:solidFill>
              </a:rPr>
              <a:t>Silver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00200" y="50017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430"/>
                </a:solidFill>
              </a:rPr>
              <a:t>standardised names, types, dates, currencies and data-quality issues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5321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0ED"/>
                </a:solidFill>
              </a:rPr>
              <a:t>Gold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00200" y="532180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430"/>
                </a:solidFill>
              </a:rPr>
              <a:t>dim_customer, dim_accommodation, dim_room, dim_geography, dim_date, fact_bookings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" y="5641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0ED"/>
                </a:solidFill>
              </a:rPr>
              <a:t>Upsert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600200" y="564184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430"/>
                </a:solidFill>
              </a:rPr>
              <a:t>Gold Delta tables are maintained with MERGE, no full overwrite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29600" y="4297680"/>
            <a:ext cx="2286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1EC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94192" y="4416552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80ED"/>
                </a:solidFill>
              </a:rPr>
              <a:t>55,550 rows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394192" y="475488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E6B7A"/>
                </a:solidFill>
              </a:rPr>
              <a:t>Gold fact_bookings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8229600" y="5257800"/>
            <a:ext cx="2286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1EC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94192" y="5376672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ADCB3"/>
                </a:solidFill>
              </a:rPr>
              <a:t>5 dimensions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8394192" y="571500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E6B7A"/>
                </a:solidFill>
              </a:rPr>
              <a:t>Gold dimensions</a:t>
            </a:r>
            <a:endParaRPr lang="en-US" sz="83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3. Star Schema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Fact grain: one row per booking transaction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2658" y="1097280"/>
            <a:ext cx="3174988" cy="4829067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 err="1"/>
              <a:t>fact_bookings</a:t>
            </a:r>
            <a:endParaRPr dirty="0"/>
          </a:p>
          <a:p>
            <a:pPr>
              <a:defRPr sz="800" b="0">
                <a:solidFill>
                  <a:srgbClr val="FFFFFF"/>
                </a:solidFill>
              </a:defRPr>
            </a:pPr>
            <a:endParaRPr dirty="0"/>
          </a:p>
          <a:p>
            <a:pPr>
              <a:defRPr sz="1100" b="0">
                <a:solidFill>
                  <a:srgbClr val="FFFFFF"/>
                </a:solidFill>
              </a:defRPr>
            </a:pPr>
            <a:r>
              <a:rPr dirty="0" err="1"/>
              <a:t>booking_id</a:t>
            </a:r>
            <a:r>
              <a:rPr dirty="0"/>
              <a:t> (PK)</a:t>
            </a:r>
          </a:p>
          <a:p>
            <a:pPr>
              <a:defRPr sz="1100" b="0">
                <a:solidFill>
                  <a:srgbClr val="FFFFFF"/>
                </a:solidFill>
              </a:defRPr>
            </a:pPr>
            <a:endParaRPr lang="nl-BE" dirty="0"/>
          </a:p>
          <a:p>
            <a:pPr>
              <a:defRPr sz="1100" b="0">
                <a:solidFill>
                  <a:srgbClr val="FFFFFF"/>
                </a:solidFill>
              </a:defRPr>
            </a:pPr>
            <a:r>
              <a:rPr lang="en-US" sz="1100" dirty="0" err="1"/>
              <a:t>booking_date</a:t>
            </a:r>
            <a:br>
              <a:rPr lang="en-US" sz="1100" dirty="0"/>
            </a:br>
            <a:r>
              <a:rPr lang="en-US" sz="1100" dirty="0" err="1"/>
              <a:t>room_key</a:t>
            </a:r>
            <a:r>
              <a:rPr lang="en-US" sz="1100" dirty="0"/>
              <a:t> (FK)</a:t>
            </a:r>
            <a:br>
              <a:rPr lang="en-US" sz="1100" dirty="0"/>
            </a:br>
            <a:r>
              <a:rPr lang="en-US" sz="1100" dirty="0" err="1"/>
              <a:t>customer_key</a:t>
            </a:r>
            <a:r>
              <a:rPr lang="en-US" sz="1100" dirty="0"/>
              <a:t> (FK)</a:t>
            </a:r>
            <a:br>
              <a:rPr lang="en-US" sz="1100" dirty="0"/>
            </a:br>
            <a:r>
              <a:rPr lang="en-US" sz="1100" dirty="0" err="1"/>
              <a:t>accommodation_key</a:t>
            </a:r>
            <a:r>
              <a:rPr lang="en-US" sz="1100" dirty="0"/>
              <a:t> (FK)</a:t>
            </a:r>
            <a:br>
              <a:rPr lang="en-US" sz="1100" dirty="0"/>
            </a:br>
            <a:r>
              <a:rPr lang="en-US" sz="1100" dirty="0" err="1"/>
              <a:t>geography_key</a:t>
            </a:r>
            <a:r>
              <a:rPr lang="en-US" sz="1100" dirty="0"/>
              <a:t> (FK)</a:t>
            </a:r>
            <a:br>
              <a:rPr lang="en-US" sz="1100" dirty="0"/>
            </a:br>
            <a:r>
              <a:rPr lang="en-US" sz="1100" dirty="0" err="1"/>
              <a:t>date_key</a:t>
            </a:r>
            <a:r>
              <a:rPr lang="en-US" sz="1100" dirty="0"/>
              <a:t> (FK)</a:t>
            </a:r>
          </a:p>
          <a:p>
            <a:pPr>
              <a:defRPr sz="1100" b="0">
                <a:solidFill>
                  <a:srgbClr val="FFFFFF"/>
                </a:solidFill>
              </a:defRPr>
            </a:pPr>
            <a:endParaRPr lang="en-US" sz="1100" dirty="0"/>
          </a:p>
          <a:p>
            <a:pPr>
              <a:defRPr sz="1100" b="0">
                <a:solidFill>
                  <a:srgbClr val="FFFFFF"/>
                </a:solidFill>
              </a:defRPr>
            </a:pPr>
            <a:r>
              <a:rPr lang="en-US" sz="1100" dirty="0"/>
              <a:t>revenue</a:t>
            </a:r>
            <a:br>
              <a:rPr lang="en-US" sz="1100" dirty="0"/>
            </a:br>
            <a:r>
              <a:rPr lang="en-US" sz="1100" dirty="0" err="1"/>
              <a:t>refunded_amount</a:t>
            </a:r>
            <a:br>
              <a:rPr lang="en-US" sz="1100" dirty="0"/>
            </a:br>
            <a:r>
              <a:rPr lang="en-US" sz="1100" dirty="0" err="1"/>
              <a:t>payment_count</a:t>
            </a:r>
            <a:br>
              <a:rPr lang="en-US" sz="1100" dirty="0"/>
            </a:br>
            <a:r>
              <a:rPr lang="en-US" sz="1100" dirty="0" err="1"/>
              <a:t>currency_conversion_issues</a:t>
            </a:r>
            <a:endParaRPr lang="en-US" sz="1100" dirty="0"/>
          </a:p>
          <a:p>
            <a:pPr>
              <a:defRPr sz="1100" b="0">
                <a:solidFill>
                  <a:srgbClr val="FFFFFF"/>
                </a:solidFill>
              </a:defRPr>
            </a:pPr>
            <a:endParaRPr lang="en-US" sz="1100" dirty="0"/>
          </a:p>
          <a:p>
            <a:pPr>
              <a:defRPr sz="1100" b="0">
                <a:solidFill>
                  <a:srgbClr val="FFFFFF"/>
                </a:solidFill>
              </a:defRPr>
            </a:pPr>
            <a:r>
              <a:rPr lang="en-US" sz="1100" dirty="0"/>
              <a:t>nights</a:t>
            </a:r>
          </a:p>
          <a:p>
            <a:pPr>
              <a:defRPr sz="1100" b="0">
                <a:solidFill>
                  <a:srgbClr val="FFFFFF"/>
                </a:solidFill>
              </a:defRPr>
            </a:pPr>
            <a:endParaRPr lang="en-US" sz="1100" dirty="0"/>
          </a:p>
          <a:p>
            <a:pPr>
              <a:defRPr sz="1100" b="0">
                <a:solidFill>
                  <a:srgbClr val="FFFFFF"/>
                </a:solidFill>
              </a:defRPr>
            </a:pPr>
            <a:r>
              <a:rPr lang="en-US" sz="1100" dirty="0" err="1"/>
              <a:t>booking_status</a:t>
            </a:r>
            <a:br>
              <a:rPr lang="en-US" sz="1100" dirty="0"/>
            </a:br>
            <a:r>
              <a:rPr lang="en-US" sz="1100" dirty="0" err="1"/>
              <a:t>cancellation_flag</a:t>
            </a:r>
            <a:br>
              <a:rPr lang="en-US" sz="1100" dirty="0"/>
            </a:br>
            <a:r>
              <a:rPr lang="en-US" sz="1100" dirty="0" err="1"/>
              <a:t>cancellation_class</a:t>
            </a:r>
            <a:endParaRPr lang="en-US" sz="1100" dirty="0"/>
          </a:p>
          <a:p>
            <a:pPr>
              <a:defRPr sz="1100" b="0">
                <a:solidFill>
                  <a:srgbClr val="FFFFFF"/>
                </a:solidFill>
              </a:defRPr>
            </a:pPr>
            <a:endParaRPr lang="en-US" sz="1100" dirty="0"/>
          </a:p>
          <a:p>
            <a:pPr>
              <a:defRPr sz="1100" b="0">
                <a:solidFill>
                  <a:srgbClr val="FFFFFF"/>
                </a:solidFill>
              </a:defRPr>
            </a:pPr>
            <a:r>
              <a:rPr lang="en-US" sz="1100" dirty="0" err="1"/>
              <a:t>lead_time_days</a:t>
            </a:r>
            <a:br>
              <a:rPr lang="en-US" sz="1100" dirty="0"/>
            </a:br>
            <a:r>
              <a:rPr lang="en-US" sz="1100" dirty="0" err="1"/>
              <a:t>review_score</a:t>
            </a:r>
            <a:endParaRPr lang="nl-BE" dirty="0"/>
          </a:p>
          <a:p>
            <a:pPr>
              <a:defRPr sz="1100" b="0">
                <a:solidFill>
                  <a:srgbClr val="FFFFFF"/>
                </a:solidFill>
              </a:defRPr>
            </a:pPr>
            <a:endParaRPr lang="nl-BE" dirty="0"/>
          </a:p>
          <a:p>
            <a:pPr>
              <a:defRPr sz="1100" b="0">
                <a:solidFill>
                  <a:srgbClr val="FFFFFF"/>
                </a:solidFill>
              </a:defRPr>
            </a:pPr>
            <a:endParaRPr lang="nl-BE" dirty="0"/>
          </a:p>
          <a:p>
            <a:pPr>
              <a:defRPr sz="1100" b="0">
                <a:solidFill>
                  <a:srgbClr val="FFFFFF"/>
                </a:solidFill>
              </a:defRPr>
            </a:pPr>
            <a:r>
              <a:rPr lang="nl-BE" dirty="0"/>
              <a:t>55,550 </a:t>
            </a:r>
            <a:r>
              <a:rPr lang="nl-BE" dirty="0" err="1"/>
              <a:t>rows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59" y="1463039"/>
            <a:ext cx="2265145" cy="184950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 err="1"/>
              <a:t>dim_customer</a:t>
            </a:r>
            <a:endParaRPr dirty="0"/>
          </a:p>
          <a:p>
            <a:pPr>
              <a:defRPr sz="900"/>
            </a:pPr>
            <a:r>
              <a:rPr dirty="0" err="1"/>
              <a:t>customer_key</a:t>
            </a:r>
            <a:br>
              <a:rPr dirty="0"/>
            </a:br>
            <a:r>
              <a:rPr dirty="0" err="1"/>
              <a:t>customer_unique_id</a:t>
            </a:r>
            <a:br>
              <a:rPr dirty="0"/>
            </a:br>
            <a:r>
              <a:rPr dirty="0" err="1"/>
              <a:t>customer_name</a:t>
            </a:r>
            <a:br>
              <a:rPr dirty="0"/>
            </a:br>
            <a:r>
              <a:rPr dirty="0"/>
              <a:t>city</a:t>
            </a:r>
            <a:br>
              <a:rPr dirty="0"/>
            </a:br>
            <a:r>
              <a:rPr dirty="0"/>
              <a:t>country</a:t>
            </a:r>
            <a:br>
              <a:rPr dirty="0"/>
            </a:br>
            <a:r>
              <a:rPr dirty="0" err="1"/>
              <a:t>valid_from</a:t>
            </a:r>
            <a:br>
              <a:rPr dirty="0"/>
            </a:br>
            <a:r>
              <a:rPr dirty="0" err="1"/>
              <a:t>valid_to</a:t>
            </a:r>
            <a:br>
              <a:rPr dirty="0"/>
            </a:br>
            <a:r>
              <a:rPr dirty="0" err="1"/>
              <a:t>is_current</a:t>
            </a:r>
            <a:endParaRPr lang="nl-BE" dirty="0"/>
          </a:p>
          <a:p>
            <a:pPr>
              <a:defRPr sz="900"/>
            </a:pPr>
            <a:endParaRPr lang="nl-BE" dirty="0"/>
          </a:p>
          <a:p>
            <a:pPr>
              <a:defRPr sz="900"/>
            </a:pPr>
            <a:r>
              <a:rPr lang="nl-BE" dirty="0"/>
              <a:t>11,001 </a:t>
            </a:r>
            <a:r>
              <a:rPr lang="nl-BE" dirty="0" err="1"/>
              <a:t>rows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95488" y="4023360"/>
            <a:ext cx="1828800" cy="1463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 err="1"/>
              <a:t>dim_room</a:t>
            </a:r>
            <a:endParaRPr dirty="0"/>
          </a:p>
          <a:p>
            <a:pPr>
              <a:defRPr sz="900"/>
            </a:pPr>
            <a:r>
              <a:rPr dirty="0" err="1"/>
              <a:t>room_key</a:t>
            </a:r>
            <a:br>
              <a:rPr dirty="0"/>
            </a:br>
            <a:r>
              <a:rPr dirty="0" err="1"/>
              <a:t>room_type</a:t>
            </a:r>
            <a:br>
              <a:rPr dirty="0"/>
            </a:br>
            <a:r>
              <a:rPr dirty="0"/>
              <a:t>capacity</a:t>
            </a:r>
            <a:br>
              <a:rPr dirty="0"/>
            </a:br>
            <a:r>
              <a:rPr dirty="0" err="1"/>
              <a:t>price_per_night</a:t>
            </a:r>
            <a:endParaRPr lang="nl-BE" dirty="0"/>
          </a:p>
          <a:p>
            <a:pPr>
              <a:defRPr sz="900"/>
            </a:pPr>
            <a:endParaRPr lang="nl-BE" dirty="0"/>
          </a:p>
          <a:p>
            <a:pPr>
              <a:defRPr sz="900"/>
            </a:pPr>
            <a:r>
              <a:rPr lang="nl-BE" dirty="0"/>
              <a:t>1,094 </a:t>
            </a:r>
            <a:r>
              <a:rPr lang="nl-BE" dirty="0" err="1"/>
              <a:t>rows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476315" y="411480"/>
            <a:ext cx="1828800" cy="1463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 err="1"/>
              <a:t>dim_accommodation</a:t>
            </a:r>
            <a:endParaRPr dirty="0"/>
          </a:p>
          <a:p>
            <a:pPr>
              <a:defRPr sz="900"/>
            </a:pPr>
            <a:r>
              <a:rPr dirty="0" err="1"/>
              <a:t>accommodation_key</a:t>
            </a:r>
            <a:br>
              <a:rPr dirty="0"/>
            </a:br>
            <a:r>
              <a:rPr dirty="0" err="1"/>
              <a:t>accommodation_name</a:t>
            </a:r>
            <a:br>
              <a:rPr dirty="0"/>
            </a:br>
            <a:r>
              <a:rPr dirty="0"/>
              <a:t>category</a:t>
            </a:r>
            <a:br>
              <a:rPr dirty="0"/>
            </a:br>
            <a:r>
              <a:rPr dirty="0"/>
              <a:t>city</a:t>
            </a:r>
            <a:br>
              <a:rPr dirty="0"/>
            </a:br>
            <a:r>
              <a:rPr dirty="0"/>
              <a:t>country</a:t>
            </a:r>
            <a:endParaRPr lang="nl-BE" dirty="0"/>
          </a:p>
          <a:p>
            <a:pPr>
              <a:defRPr sz="900"/>
            </a:pPr>
            <a:endParaRPr lang="nl-BE" dirty="0"/>
          </a:p>
          <a:p>
            <a:pPr>
              <a:defRPr sz="900"/>
            </a:pPr>
            <a:r>
              <a:rPr lang="nl-BE" dirty="0"/>
              <a:t>451 </a:t>
            </a:r>
            <a:r>
              <a:rPr lang="nl-BE" dirty="0" err="1"/>
              <a:t>rows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549400" y="4572000"/>
            <a:ext cx="1828800" cy="1463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 err="1"/>
              <a:t>dim_date</a:t>
            </a:r>
            <a:endParaRPr dirty="0"/>
          </a:p>
          <a:p>
            <a:pPr>
              <a:defRPr sz="900"/>
            </a:pPr>
            <a:r>
              <a:rPr dirty="0" err="1"/>
              <a:t>date_key</a:t>
            </a:r>
            <a:br>
              <a:rPr dirty="0"/>
            </a:br>
            <a:r>
              <a:rPr dirty="0"/>
              <a:t>day</a:t>
            </a:r>
            <a:br>
              <a:rPr dirty="0"/>
            </a:br>
            <a:r>
              <a:rPr dirty="0"/>
              <a:t>month</a:t>
            </a:r>
            <a:br>
              <a:rPr dirty="0"/>
            </a:br>
            <a:r>
              <a:rPr dirty="0"/>
              <a:t>quarter</a:t>
            </a:r>
            <a:br>
              <a:rPr dirty="0"/>
            </a:br>
            <a:r>
              <a:rPr dirty="0"/>
              <a:t>year</a:t>
            </a:r>
            <a:endParaRPr lang="nl-BE" dirty="0"/>
          </a:p>
          <a:p>
            <a:pPr>
              <a:defRPr sz="900"/>
            </a:pPr>
            <a:endParaRPr lang="nl-BE" dirty="0"/>
          </a:p>
          <a:p>
            <a:pPr>
              <a:defRPr sz="900"/>
            </a:pPr>
            <a:r>
              <a:rPr lang="nl-BE" dirty="0"/>
              <a:t>1,025 </a:t>
            </a:r>
            <a:r>
              <a:rPr lang="nl-BE" dirty="0" err="1"/>
              <a:t>rows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65759" y="6298577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dirty="0"/>
              <a:t>Gold layer implemented using Delta MERGE </a:t>
            </a:r>
            <a:r>
              <a:rPr dirty="0" err="1"/>
              <a:t>upserts</a:t>
            </a:r>
            <a:r>
              <a:rPr dirty="0"/>
              <a:t> (no overwrite).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4935CE93-C8BD-C6F2-9132-45707D93234C}"/>
              </a:ext>
            </a:extLst>
          </p:cNvPr>
          <p:cNvSpPr/>
          <p:nvPr/>
        </p:nvSpPr>
        <p:spPr>
          <a:xfrm>
            <a:off x="9390715" y="2392105"/>
            <a:ext cx="1828800" cy="1463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lang="en-US" sz="1200" b="1" dirty="0" err="1"/>
              <a:t>dim_geography</a:t>
            </a:r>
            <a:endParaRPr sz="1200" b="1" dirty="0"/>
          </a:p>
          <a:p>
            <a:pPr>
              <a:defRPr sz="900"/>
            </a:pPr>
            <a:r>
              <a:rPr lang="en-US" sz="900" dirty="0" err="1"/>
              <a:t>geography_key</a:t>
            </a:r>
            <a:endParaRPr lang="en-US" sz="900" dirty="0"/>
          </a:p>
          <a:p>
            <a:pPr>
              <a:defRPr sz="900"/>
            </a:pPr>
            <a:r>
              <a:rPr lang="en-US" sz="900" dirty="0"/>
              <a:t>city</a:t>
            </a:r>
          </a:p>
          <a:p>
            <a:pPr>
              <a:defRPr sz="900"/>
            </a:pPr>
            <a:r>
              <a:rPr lang="nl-BE" dirty="0"/>
              <a:t>country</a:t>
            </a:r>
          </a:p>
          <a:p>
            <a:pPr>
              <a:defRPr sz="900"/>
            </a:pPr>
            <a:r>
              <a:rPr lang="en-US" sz="900" dirty="0" err="1"/>
              <a:t>country_code</a:t>
            </a:r>
            <a:endParaRPr lang="nl-BE" dirty="0"/>
          </a:p>
          <a:p>
            <a:pPr>
              <a:defRPr sz="900"/>
            </a:pPr>
            <a:endParaRPr lang="nl-BE" dirty="0"/>
          </a:p>
          <a:p>
            <a:pPr>
              <a:defRPr sz="900"/>
            </a:pPr>
            <a:r>
              <a:rPr lang="nl-BE" dirty="0"/>
              <a:t>50 </a:t>
            </a:r>
            <a:r>
              <a:rPr lang="nl-BE" dirty="0" err="1"/>
              <a:t>rows</a:t>
            </a:r>
            <a:endParaRPr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C2580DC-E24F-591B-5AB4-096517081C6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630904" y="2387791"/>
            <a:ext cx="1371754" cy="562443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40BC006-20C7-2709-AA0A-52C9D3122E58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824288" y="3855145"/>
            <a:ext cx="1178370" cy="899735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5F2FB6D-69BE-20C0-367A-EEEDF71E3931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V="1">
            <a:off x="7177647" y="1143000"/>
            <a:ext cx="1298669" cy="1143000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CBBE5D-EC54-5846-B70A-3133FE4F86B4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177647" y="3123625"/>
            <a:ext cx="221306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9E7D625-5FF5-FD9E-EDDB-7C001B319991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>
            <a:off x="7177646" y="4122132"/>
            <a:ext cx="1371754" cy="1181388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dirty="0"/>
              <a:t>4. SCD Type 2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rPr dirty="0"/>
              <a:t>Historical customer changes are preserved instead of overwritten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1828800"/>
          </a:xfrm>
          <a:prstGeom prst="roundRect">
            <a:avLst/>
          </a:prstGeom>
          <a:solidFill>
            <a:srgbClr val="FF0000"/>
          </a:solidFill>
          <a:ln>
            <a:solidFill>
              <a:srgbClr val="C8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Historical customer row</a:t>
            </a:r>
          </a:p>
          <a:p>
            <a:pPr>
              <a:defRPr sz="1100"/>
            </a:pPr>
            <a:endParaRPr/>
          </a:p>
          <a:p>
            <a:pPr>
              <a:defRPr sz="1100"/>
            </a:pPr>
            <a:r>
              <a:t>customer_unique_id = C102</a:t>
            </a:r>
          </a:p>
          <a:p>
            <a:pPr>
              <a:defRPr sz="1100"/>
            </a:pPr>
            <a:r>
              <a:t>city = Paris</a:t>
            </a:r>
          </a:p>
          <a:p>
            <a:pPr>
              <a:defRPr sz="1100"/>
            </a:pPr>
            <a:endParaRPr/>
          </a:p>
          <a:p>
            <a:pPr>
              <a:defRPr sz="1100"/>
            </a:pPr>
            <a:r>
              <a:t>valid_from = 2021-01-01</a:t>
            </a:r>
          </a:p>
          <a:p>
            <a:pPr>
              <a:defRPr sz="1100"/>
            </a:pPr>
            <a:r>
              <a:t>valid_to = 2023-05-01</a:t>
            </a:r>
          </a:p>
          <a:p>
            <a:pPr>
              <a:defRPr sz="1100"/>
            </a:pPr>
            <a:r>
              <a:t>is_current = false</a:t>
            </a:r>
          </a:p>
        </p:txBody>
      </p:sp>
      <p:sp>
        <p:nvSpPr>
          <p:cNvPr id="5" name="Chevron 4"/>
          <p:cNvSpPr/>
          <p:nvPr/>
        </p:nvSpPr>
        <p:spPr>
          <a:xfrm>
            <a:off x="3566160" y="2468880"/>
            <a:ext cx="1097280" cy="457200"/>
          </a:xfrm>
          <a:prstGeom prst="chevron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1837426"/>
            <a:ext cx="14250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rPr dirty="0"/>
              <a:t>Customer</a:t>
            </a:r>
            <a:br>
              <a:rPr dirty="0"/>
            </a:br>
            <a:r>
              <a:rPr dirty="0"/>
              <a:t>attribute changed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828800"/>
            <a:ext cx="2560320" cy="1828800"/>
          </a:xfrm>
          <a:prstGeom prst="roundRect">
            <a:avLst/>
          </a:prstGeom>
          <a:solidFill>
            <a:srgbClr val="00B050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Current customer row</a:t>
            </a:r>
          </a:p>
          <a:p>
            <a:pPr>
              <a:defRPr sz="1100"/>
            </a:pPr>
            <a:endParaRPr/>
          </a:p>
          <a:p>
            <a:pPr>
              <a:defRPr sz="1100"/>
            </a:pPr>
            <a:r>
              <a:t>customer_unique_id = C102</a:t>
            </a:r>
          </a:p>
          <a:p>
            <a:pPr>
              <a:defRPr sz="1100"/>
            </a:pPr>
            <a:r>
              <a:t>city = Brussels</a:t>
            </a:r>
          </a:p>
          <a:p>
            <a:pPr>
              <a:defRPr sz="1100"/>
            </a:pPr>
            <a:endParaRPr/>
          </a:p>
          <a:p>
            <a:pPr>
              <a:defRPr sz="1100"/>
            </a:pPr>
            <a:r>
              <a:t>valid_from = 2023-05-01</a:t>
            </a:r>
          </a:p>
          <a:p>
            <a:pPr>
              <a:defRPr sz="1100"/>
            </a:pPr>
            <a:r>
              <a:t>valid_to = 9999-12-31</a:t>
            </a:r>
          </a:p>
          <a:p>
            <a:pPr>
              <a:defRPr sz="1100"/>
            </a:pPr>
            <a:r>
              <a:t>is_current =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713232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rPr dirty="0"/>
              <a:t>Why this matters:</a:t>
            </a:r>
          </a:p>
          <a:p>
            <a:pPr>
              <a:defRPr sz="1300"/>
            </a:pPr>
            <a:r>
              <a:rPr dirty="0"/>
              <a:t>Customer Lifetime Value remains historically accurate even when customer attributes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Notebook implementation: multiple records with the same customer_unique_id are interpreted as historical versions.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EFF4AC-356F-1473-456E-BA241FB71611}"/>
              </a:ext>
            </a:extLst>
          </p:cNvPr>
          <p:cNvSpPr txBox="1"/>
          <p:nvPr/>
        </p:nvSpPr>
        <p:spPr>
          <a:xfrm>
            <a:off x="457200" y="1188720"/>
            <a:ext cx="9462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rPr lang="nl-BE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Example: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Pipeline decisions - data quality issues and handling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issue counts and handling decisions shown in the notebook before Silver cleaning.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TravelNest_Medallion_Complete.ipynb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85216" y="1371600"/>
            <a:ext cx="1188720" cy="384048"/>
          </a:xfrm>
          <a:prstGeom prst="rect">
            <a:avLst/>
          </a:prstGeom>
          <a:solidFill>
            <a:srgbClr val="142842"/>
          </a:solidFill>
          <a:ln w="12700">
            <a:solidFill>
              <a:srgbClr val="D8E1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Source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73936" y="1371600"/>
            <a:ext cx="2743200" cy="384048"/>
          </a:xfrm>
          <a:prstGeom prst="rect">
            <a:avLst/>
          </a:prstGeom>
          <a:solidFill>
            <a:srgbClr val="142842"/>
          </a:solidFill>
          <a:ln w="12700">
            <a:solidFill>
              <a:srgbClr val="D8E1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14630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Issue found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17136" y="1371600"/>
            <a:ext cx="914400" cy="384048"/>
          </a:xfrm>
          <a:prstGeom prst="rect">
            <a:avLst/>
          </a:prstGeom>
          <a:solidFill>
            <a:srgbClr val="142842"/>
          </a:solidFill>
          <a:ln w="12700">
            <a:solidFill>
              <a:srgbClr val="D8E1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4630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Records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31536" y="1371600"/>
            <a:ext cx="3657600" cy="384048"/>
          </a:xfrm>
          <a:prstGeom prst="rect">
            <a:avLst/>
          </a:prstGeom>
          <a:solidFill>
            <a:srgbClr val="142842"/>
          </a:solidFill>
          <a:ln w="12700">
            <a:solidFill>
              <a:srgbClr val="D8E1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Handling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5216" y="1755648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18470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customers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773936" y="1755648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28800" y="18470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missing city values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517136" y="1755648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18470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220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431536" y="1755648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0" y="184708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Filled with Unknown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85216" y="2139696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22311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bookings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773936" y="213969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0" y="223113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missing customer_id values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517136" y="213969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223113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277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431536" y="2139696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0" y="223113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Linked to unknown customer key 0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85216" y="2523744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26151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rooms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1773936" y="2523744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828800" y="2615184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null or non-positive prices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517136" y="252374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0" y="261518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22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431536" y="2523744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0" y="261518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Median price imputation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85216" y="2907792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080" y="29992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reviews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1773936" y="2907792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828800" y="299923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ratings outside 0–10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517136" y="2907792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0" y="29992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492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431536" y="2907792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0" y="2999232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Converted impossible scores to null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85216" y="3291840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0080" y="338328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reviews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1773936" y="329184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828800" y="338328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cleanliness outside 0–10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4517136" y="329184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0" y="338328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131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5431536" y="32918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86400" y="33832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Converted impossible scores to null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585216" y="3675888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0080" y="376732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payments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1773936" y="3675888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828800" y="376732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missing payment methods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4517136" y="3675888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572000" y="376732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490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5431536" y="3675888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486400" y="376732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Filled with unknown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585216" y="4059936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40080" y="415137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payments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1773936" y="405993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828800" y="415137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multiple payment currencies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4517136" y="405993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572000" y="415137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3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5431536" y="4059936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486400" y="415137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Converted to EUR with fixed FX rates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786384" y="4800600"/>
            <a:ext cx="10332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86384" y="4800600"/>
            <a:ext cx="109728" cy="1078992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078992" y="4869785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430"/>
                </a:solidFill>
              </a:rPr>
              <a:t>Other modelling decisions</a:t>
            </a:r>
            <a:endParaRPr lang="en-US" sz="1550" dirty="0"/>
          </a:p>
        </p:txBody>
      </p:sp>
      <p:sp>
        <p:nvSpPr>
          <p:cNvPr id="74" name="Text 72"/>
          <p:cNvSpPr/>
          <p:nvPr/>
        </p:nvSpPr>
        <p:spPr>
          <a:xfrm>
            <a:off x="1000664" y="5413248"/>
            <a:ext cx="98624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C2430"/>
                </a:solidFill>
              </a:rPr>
              <a:t>• 718 booking records had nights different from calculated stay duration. Nights were recalculated from check-out minus check-in.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430"/>
                </a:solidFill>
              </a:rPr>
              <a:t>• Accommodation type spelling issues such as Ressort, Hostle and Appartment were standardised.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430"/>
                </a:solidFill>
              </a:rPr>
              <a:t>• Multiple payment rows per booking were aggregated before fact creation to avoid duplicate revenue.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430"/>
                </a:solidFill>
              </a:rPr>
              <a:t>• Missing or empty special_requests were filled with none.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requirements - cancellation KPI, lead time and window functions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49436" y="91776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calculations beyond the mandatory visualisations.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TravelNest_Medallion_Complete.ipynb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2148840" cy="384048"/>
          </a:xfrm>
          <a:prstGeom prst="rect">
            <a:avLst/>
          </a:prstGeom>
          <a:solidFill>
            <a:srgbClr val="142842"/>
          </a:solidFill>
          <a:ln w="12700">
            <a:solidFill>
              <a:srgbClr val="D8E1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325880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Cancellation class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0" y="1234440"/>
            <a:ext cx="1051560" cy="384048"/>
          </a:xfrm>
          <a:prstGeom prst="rect">
            <a:avLst/>
          </a:prstGeom>
          <a:solidFill>
            <a:srgbClr val="142842"/>
          </a:solidFill>
          <a:ln w="12700">
            <a:solidFill>
              <a:srgbClr val="D8E1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98064" y="1325880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Bookings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94760" y="1234440"/>
            <a:ext cx="1234440" cy="384048"/>
          </a:xfrm>
          <a:prstGeom prst="rect">
            <a:avLst/>
          </a:prstGeom>
          <a:solidFill>
            <a:srgbClr val="142842"/>
          </a:solidFill>
          <a:ln w="12700">
            <a:solidFill>
              <a:srgbClr val="D8E1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9624" y="1325880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Revenue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1234440"/>
            <a:ext cx="868680" cy="384048"/>
          </a:xfrm>
          <a:prstGeom prst="rect">
            <a:avLst/>
          </a:prstGeom>
          <a:solidFill>
            <a:srgbClr val="142842"/>
          </a:solidFill>
          <a:ln w="12700">
            <a:solidFill>
              <a:srgbClr val="D8E1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84064" y="132588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Share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1618488"/>
            <a:ext cx="2148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" y="170992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Completed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743200" y="1618488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98064" y="1709928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38,818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794760" y="1618488"/>
            <a:ext cx="1234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9624" y="170992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€54.75M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029200" y="1618488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84064" y="170992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69.88%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94360" y="2002536"/>
            <a:ext cx="2148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" y="2093976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On-time cancellation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743200" y="2002536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98064" y="2093976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8,046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794760" y="2002536"/>
            <a:ext cx="1234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9624" y="2093976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€0.00M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029200" y="2002536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84064" y="2093976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14.48%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94360" y="2386584"/>
            <a:ext cx="2148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9224" y="2478024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Confirmed / active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743200" y="2386584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98064" y="2478024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6,703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3794760" y="2386584"/>
            <a:ext cx="1234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49624" y="247802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€9.29M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029200" y="2386584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84064" y="247802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12.07%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94360" y="2770632"/>
            <a:ext cx="2148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9224" y="2862072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No-show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743200" y="2770632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98064" y="286207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1,620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3794760" y="2770632"/>
            <a:ext cx="1234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849624" y="28620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€0.00M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029200" y="2770632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84064" y="2862072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2.92%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94360" y="3154680"/>
            <a:ext cx="2148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9224" y="3246120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Late cancellation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743200" y="3154680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98064" y="3246120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363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3794760" y="3154680"/>
            <a:ext cx="1234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49624" y="3246120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€0.00M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5029200" y="3154680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84064" y="324612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0.65%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6172200" y="1234440"/>
            <a:ext cx="2011680" cy="384048"/>
          </a:xfrm>
          <a:prstGeom prst="rect">
            <a:avLst/>
          </a:prstGeom>
          <a:solidFill>
            <a:srgbClr val="142842"/>
          </a:solidFill>
          <a:ln w="12700">
            <a:solidFill>
              <a:srgbClr val="D8E1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27064" y="132588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Lead-time segment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183880" y="1234440"/>
            <a:ext cx="1005840" cy="384048"/>
          </a:xfrm>
          <a:prstGeom prst="rect">
            <a:avLst/>
          </a:prstGeom>
          <a:solidFill>
            <a:srgbClr val="142842"/>
          </a:solidFill>
          <a:ln w="12700">
            <a:solidFill>
              <a:srgbClr val="D8E1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238744" y="132588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Bookings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189720" y="1234440"/>
            <a:ext cx="1188720" cy="384048"/>
          </a:xfrm>
          <a:prstGeom prst="rect">
            <a:avLst/>
          </a:prstGeom>
          <a:solidFill>
            <a:srgbClr val="142842"/>
          </a:solidFill>
          <a:ln w="12700">
            <a:solidFill>
              <a:srgbClr val="D8E1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244584" y="132588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Revenue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0378440" y="1234440"/>
            <a:ext cx="1005840" cy="384048"/>
          </a:xfrm>
          <a:prstGeom prst="rect">
            <a:avLst/>
          </a:prstGeom>
          <a:solidFill>
            <a:srgbClr val="142842"/>
          </a:solidFill>
          <a:ln w="12700">
            <a:solidFill>
              <a:srgbClr val="D8E1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0433304" y="132588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Cancel rate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172200" y="161848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27064" y="170992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Last-minute (0–7d)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8183880" y="161848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238744" y="170992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2,389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9189720" y="1618488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244584" y="170992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€2.71M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10378440" y="161848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0433304" y="170992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18.21%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6172200" y="2002536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227064" y="209397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Short (8–30d)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8183880" y="2002536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238744" y="209397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7,039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9189720" y="2002536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9244584" y="209397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€8.18M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10378440" y="2002536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0433304" y="209397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18.27%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6172200" y="238658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227064" y="247802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Medium (31–90d)</a:t>
            </a:r>
            <a:endParaRPr lang="en-US" sz="820" dirty="0"/>
          </a:p>
        </p:txBody>
      </p:sp>
      <p:sp>
        <p:nvSpPr>
          <p:cNvPr id="81" name="Shape 79"/>
          <p:cNvSpPr/>
          <p:nvPr/>
        </p:nvSpPr>
        <p:spPr>
          <a:xfrm>
            <a:off x="8183880" y="238658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238744" y="2478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18,456</a:t>
            </a:r>
            <a:endParaRPr lang="en-US" sz="820" dirty="0"/>
          </a:p>
        </p:txBody>
      </p:sp>
      <p:sp>
        <p:nvSpPr>
          <p:cNvPr id="83" name="Shape 81"/>
          <p:cNvSpPr/>
          <p:nvPr/>
        </p:nvSpPr>
        <p:spPr>
          <a:xfrm>
            <a:off x="9189720" y="2386584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9244584" y="247802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€21.37M</a:t>
            </a:r>
            <a:endParaRPr lang="en-US" sz="820" dirty="0"/>
          </a:p>
        </p:txBody>
      </p:sp>
      <p:sp>
        <p:nvSpPr>
          <p:cNvPr id="85" name="Shape 83"/>
          <p:cNvSpPr/>
          <p:nvPr/>
        </p:nvSpPr>
        <p:spPr>
          <a:xfrm>
            <a:off x="10378440" y="238658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0433304" y="2478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17.93%</a:t>
            </a:r>
            <a:endParaRPr lang="en-US" sz="820" dirty="0"/>
          </a:p>
        </p:txBody>
      </p:sp>
      <p:sp>
        <p:nvSpPr>
          <p:cNvPr id="87" name="Shape 85"/>
          <p:cNvSpPr/>
          <p:nvPr/>
        </p:nvSpPr>
        <p:spPr>
          <a:xfrm>
            <a:off x="6172200" y="2770632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227064" y="286207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Long (91+d)</a:t>
            </a:r>
            <a:endParaRPr lang="en-US" sz="820" dirty="0"/>
          </a:p>
        </p:txBody>
      </p:sp>
      <p:sp>
        <p:nvSpPr>
          <p:cNvPr id="89" name="Shape 87"/>
          <p:cNvSpPr/>
          <p:nvPr/>
        </p:nvSpPr>
        <p:spPr>
          <a:xfrm>
            <a:off x="8183880" y="2770632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8238744" y="286207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27,666</a:t>
            </a:r>
            <a:endParaRPr lang="en-US" sz="820" dirty="0"/>
          </a:p>
        </p:txBody>
      </p:sp>
      <p:sp>
        <p:nvSpPr>
          <p:cNvPr id="91" name="Shape 89"/>
          <p:cNvSpPr/>
          <p:nvPr/>
        </p:nvSpPr>
        <p:spPr>
          <a:xfrm>
            <a:off x="9189720" y="2770632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9244584" y="286207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€31.78M</a:t>
            </a:r>
            <a:endParaRPr lang="en-US" sz="820" dirty="0"/>
          </a:p>
        </p:txBody>
      </p:sp>
      <p:sp>
        <p:nvSpPr>
          <p:cNvPr id="93" name="Shape 91"/>
          <p:cNvSpPr/>
          <p:nvPr/>
        </p:nvSpPr>
        <p:spPr>
          <a:xfrm>
            <a:off x="10378440" y="2770632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0433304" y="286207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C2430"/>
                </a:solidFill>
              </a:rPr>
              <a:t>18.07%</a:t>
            </a:r>
            <a:endParaRPr lang="en-US" sz="820" dirty="0"/>
          </a:p>
        </p:txBody>
      </p:sp>
      <p:sp>
        <p:nvSpPr>
          <p:cNvPr id="95" name="Shape 93"/>
          <p:cNvSpPr/>
          <p:nvPr/>
        </p:nvSpPr>
        <p:spPr>
          <a:xfrm>
            <a:off x="713232" y="434340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13232" y="4343400"/>
            <a:ext cx="109728" cy="1024128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1005840" y="44394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430"/>
                </a:solidFill>
              </a:rPr>
              <a:t>Important KPI limitation</a:t>
            </a:r>
            <a:endParaRPr lang="en-US" sz="1550" dirty="0"/>
          </a:p>
        </p:txBody>
      </p:sp>
      <p:sp>
        <p:nvSpPr>
          <p:cNvPr id="98" name="Text 96"/>
          <p:cNvSpPr/>
          <p:nvPr/>
        </p:nvSpPr>
        <p:spPr>
          <a:xfrm>
            <a:off x="1005840" y="4997196"/>
            <a:ext cx="4526280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C2430"/>
                </a:solidFill>
              </a:rPr>
              <a:t>The source does not contain an actual cancellation_date. The notebook therefore uses lead_time_days = check_in_date − booking_date as a transparent proxy for cancellation timing. This should be interpreted as booking-risk classification, not a perfect operational cancellation timestamp.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309360" y="4343400"/>
            <a:ext cx="49834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6309360" y="4343400"/>
            <a:ext cx="109728" cy="10241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621636" y="44394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430"/>
                </a:solidFill>
              </a:rPr>
              <a:t>Window functions used</a:t>
            </a:r>
            <a:endParaRPr lang="en-US" sz="1550" dirty="0"/>
          </a:p>
        </p:txBody>
      </p:sp>
      <p:sp>
        <p:nvSpPr>
          <p:cNvPr id="102" name="Text 100"/>
          <p:cNvSpPr/>
          <p:nvPr/>
        </p:nvSpPr>
        <p:spPr>
          <a:xfrm>
            <a:off x="6601968" y="4933188"/>
            <a:ext cx="4434840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C2430"/>
                </a:solidFill>
              </a:rPr>
              <a:t>ROW_NUMBER() for surrogate keys and latest review selection.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C2430"/>
                </a:solidFill>
              </a:rPr>
              <a:t>SUM() OVER() for customer lifetime revenue.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C2430"/>
                </a:solidFill>
              </a:rPr>
              <a:t>RANK() for top customers by lifetime revenue.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Revenue by accommodation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Why: bar chart compares total revenue across all accommodation types and shows product revenue drivers.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TravelNest_Medallion_Complete.ipynb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pic>
        <p:nvPicPr>
          <p:cNvPr id="7" name="Image 0" descr="/mnt/data/notebook_images/cell_22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024544"/>
            <a:ext cx="6812280" cy="334840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243584"/>
            <a:ext cx="4251960" cy="4828032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06640" y="1243584"/>
            <a:ext cx="109728" cy="48280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99248" y="14721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430"/>
                </a:solidFill>
              </a:rPr>
              <a:t>Notebook interpretation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99248" y="1956816"/>
            <a:ext cx="3703320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C2430"/>
                </a:solidFill>
              </a:rPr>
              <a:t>Bed &amp; Breakfast generated the highest revenue with €12.47M, followed by Resort with €9.87M. Apartment generated the lowest revenue with €6.50M. Revenue is diversified across categories, so TravelNest is not overly dependent on one property type. Bed &amp; Breakfast and Resort should be prioritised for partnerships, promotions and marketing investment.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Top 10 customers by lifetime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Why: ranking highlights individual customers contributing most to long-term platform performance.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TravelNest_Medallion_Complete.ipynb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/mnt/data/notebook_images/cell_24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030200"/>
            <a:ext cx="6812280" cy="33370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243584"/>
            <a:ext cx="4251960" cy="4828032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06640" y="1243584"/>
            <a:ext cx="109728" cy="4828032"/>
          </a:xfrm>
          <a:prstGeom prst="rect">
            <a:avLst/>
          </a:prstGeom>
          <a:solidFill>
            <a:srgbClr val="7ADCB3"/>
          </a:solidFill>
          <a:ln w="12700">
            <a:solidFill>
              <a:srgbClr val="7ADC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99248" y="14721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430"/>
                </a:solidFill>
              </a:rPr>
              <a:t>Notebook interpretation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99248" y="1956816"/>
            <a:ext cx="3703320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C2430"/>
                </a:solidFill>
              </a:rPr>
              <a:t>The highest-value customer is Michael Lopez (bfb22e46), generating €54.24K across 26 bookings. The 10th-ranked customer still generated €40.99K, showing consistently high value rather than one outlier. The notebook groups by customer_unique_id so SCD2 attribute changes do not split lifetime value.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Monthly revenue trend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Why: time series reveals seasonality and changes in platform performance over time.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TravelNest_Medallion_Complete.ipynb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/mnt/data/notebook_images/cell_26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150503"/>
            <a:ext cx="6812280" cy="309649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243584"/>
            <a:ext cx="4251960" cy="4828032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06640" y="1243584"/>
            <a:ext cx="109728" cy="48280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99248" y="14721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430"/>
                </a:solidFill>
              </a:rPr>
              <a:t>Notebook interpretation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99248" y="1956816"/>
            <a:ext cx="3703320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C2430"/>
                </a:solidFill>
              </a:rPr>
              <a:t>Revenue peaks in July 2023 with €1.31M, while the lowest month is February 2022 with €1.02M. Revenue remains relatively stable, but the difference between peak and low months shows recurring demand fluctuations. Marketing, pricing and supply should align with stronger and weaker demand months.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Cancellation rate by country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Why: country-level bar chart compares cancellation behaviour across geographic markets.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TravelNest_Medallion_Complete.ipynb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/mnt/data/notebook_images/cell_28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024544"/>
            <a:ext cx="6812280" cy="334840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243584"/>
            <a:ext cx="4251960" cy="4828032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06640" y="1243584"/>
            <a:ext cx="109728" cy="482803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99248" y="14721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430"/>
                </a:solidFill>
              </a:rPr>
              <a:t>Notebook interpretation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99248" y="1956816"/>
            <a:ext cx="3703320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C2430"/>
                </a:solidFill>
              </a:rPr>
              <a:t>Spain (ES) has the highest cancellation rate at 18.56%, while Switzerland (CH) has the lowest at 17.40%. The difference is only 1.16 percentage points, meaning cancellation behaviour is relatively consistent across countries. Cancellations are therefore a platform-wide issue rather than one isolated market problem.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Top 10 cities by total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Why: city ranking shows which local markets are most valuable for TravelNest.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TravelNest_Medallion_Complete.ipynb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/mnt/data/notebook_images/cell_30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023124"/>
            <a:ext cx="6812280" cy="335124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243584"/>
            <a:ext cx="4251960" cy="4828032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06640" y="1243584"/>
            <a:ext cx="109728" cy="4828032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99248" y="14721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430"/>
                </a:solidFill>
              </a:rPr>
              <a:t>Notebook interpretation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99248" y="1956816"/>
            <a:ext cx="3703320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C2430"/>
                </a:solidFill>
              </a:rPr>
              <a:t>Munich (DE) is the strongest-performing city with €3.00M in total revenue. Even the 10th-ranked city, Venice (IT), generated €1.90M, showing revenue is distributed across several urban markets. TravelNest should continue investing in partnerships, marketing and supply across these high-performing cities.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Revenue vs average review rating per accommodation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Why: scatter plot evaluates whether quality, measured by review rating, is associated with revenue.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TravelNest_Medallion_Complete.ipynb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pic>
        <p:nvPicPr>
          <p:cNvPr id="7" name="Image 0" descr="/mnt/data/notebook_images/cell_32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008790"/>
            <a:ext cx="6812280" cy="337991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243584"/>
            <a:ext cx="4251960" cy="4828032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06640" y="1243584"/>
            <a:ext cx="109728" cy="48280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99248" y="14721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430"/>
                </a:solidFill>
              </a:rPr>
              <a:t>Notebook interpretation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99248" y="1956816"/>
            <a:ext cx="3703320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C2430"/>
                </a:solidFill>
              </a:rPr>
              <a:t>The correlation between revenue and average review rating is -0.02, indicating almost no linear relationship. The highest-performing accommodation, The Garden Resort, generated €0.42M with an average rating of 7.50. Review score alone does not explain revenue. Type, location, pricing and booking volume likely matter more.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Customer lifetime value distribution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Why: CLV segmentation shows how customer value is spread across Low, Medium and High groups.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TravelNest_Medallion_Complete.ipynb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pic>
        <p:nvPicPr>
          <p:cNvPr id="7" name="Image 0" descr="/mnt/data/notebook_images/cell_34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835011"/>
            <a:ext cx="6812280" cy="37274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243584"/>
            <a:ext cx="4251960" cy="4828032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E1EC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06640" y="1243584"/>
            <a:ext cx="109728" cy="4828032"/>
          </a:xfrm>
          <a:prstGeom prst="rect">
            <a:avLst/>
          </a:prstGeom>
          <a:solidFill>
            <a:srgbClr val="7ADCB3"/>
          </a:solidFill>
          <a:ln w="12700">
            <a:solidFill>
              <a:srgbClr val="7ADC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99248" y="14721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430"/>
                </a:solidFill>
              </a:rPr>
              <a:t>Notebook interpretation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99248" y="1956816"/>
            <a:ext cx="3703320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C2430"/>
                </a:solidFill>
              </a:rPr>
              <a:t>The Medium CLV segment contains the largest number of customers: 4,127 customers generating €35.99M. The High CLV segment contains only 842 customers, but generates €17.50M and has an average CLV of €20.79K. High-value customers are strategically important for loyalty and retention, while Medium customers form the operational revenue base.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8D8D6"/>
          </a:solidFill>
          <a:ln w="12700">
            <a:solidFill>
              <a:srgbClr val="68D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13. Final answer to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9966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5E8"/>
                </a:solidFill>
              </a:rPr>
              <a:t>Supported by the notebook’s Gold model, KPIs and seven mandatory visualisations.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645920"/>
            <a:ext cx="10680192" cy="530352"/>
          </a:xfrm>
          <a:prstGeom prst="roundRect">
            <a:avLst>
              <a:gd name="adj" fmla="val 6897"/>
            </a:avLst>
          </a:prstGeom>
          <a:solidFill>
            <a:srgbClr val="1A3352"/>
          </a:solidFill>
          <a:ln w="12700">
            <a:solidFill>
              <a:srgbClr val="2B4B7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784223"/>
            <a:ext cx="2514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68D8D6"/>
                </a:solidFill>
              </a:rPr>
              <a:t>Accommodation type drives revenue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794760" y="1755648"/>
            <a:ext cx="7086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Bed &amp; Breakfast leads with €12.47M, resort follows with €9.87M. Appartement is lowest with 6.5M.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13232" y="2432304"/>
            <a:ext cx="10680192" cy="530352"/>
          </a:xfrm>
          <a:prstGeom prst="roundRect">
            <a:avLst>
              <a:gd name="adj" fmla="val 6897"/>
            </a:avLst>
          </a:prstGeom>
          <a:solidFill>
            <a:srgbClr val="1A3352"/>
          </a:solidFill>
          <a:ln w="12700">
            <a:solidFill>
              <a:srgbClr val="2B4B7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542032"/>
            <a:ext cx="2514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68D8D6"/>
                </a:solidFill>
              </a:rPr>
              <a:t>Geography matters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3794760" y="2542032"/>
            <a:ext cx="7086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Munich leads city revenue with €3.00M, followed by Brussels and Bordeaux.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3218688"/>
            <a:ext cx="10680192" cy="530352"/>
          </a:xfrm>
          <a:prstGeom prst="roundRect">
            <a:avLst>
              <a:gd name="adj" fmla="val 6897"/>
            </a:avLst>
          </a:prstGeom>
          <a:solidFill>
            <a:srgbClr val="1A3352"/>
          </a:solidFill>
          <a:ln w="12700">
            <a:solidFill>
              <a:srgbClr val="2B4B7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3328416"/>
            <a:ext cx="2514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68D8D6"/>
                </a:solidFill>
              </a:rPr>
              <a:t>CLV depends on retention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3794760" y="3328416"/>
            <a:ext cx="7086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Medium CLV customers generate €35.99M. High CLV customers are few but highly profitable.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4005072"/>
            <a:ext cx="10680192" cy="530352"/>
          </a:xfrm>
          <a:prstGeom prst="roundRect">
            <a:avLst>
              <a:gd name="adj" fmla="val 6897"/>
            </a:avLst>
          </a:prstGeom>
          <a:solidFill>
            <a:srgbClr val="1A3352"/>
          </a:solidFill>
          <a:ln w="12700">
            <a:solidFill>
              <a:srgbClr val="2B4B7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114800"/>
            <a:ext cx="2514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68D8D6"/>
                </a:solidFill>
              </a:rPr>
              <a:t>Cancellations are platform-wide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3794760" y="4114800"/>
            <a:ext cx="7086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Country cancellation rates range narrowly from 18.56% to 17.40%.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4791456"/>
            <a:ext cx="10680192" cy="530352"/>
          </a:xfrm>
          <a:prstGeom prst="roundRect">
            <a:avLst>
              <a:gd name="adj" fmla="val 6897"/>
            </a:avLst>
          </a:prstGeom>
          <a:solidFill>
            <a:srgbClr val="1A3352"/>
          </a:solidFill>
          <a:ln w="12700">
            <a:solidFill>
              <a:srgbClr val="2B4B7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4901184"/>
            <a:ext cx="2514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68D8D6"/>
                </a:solidFill>
              </a:rPr>
              <a:t>Quality matters, but not alone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3794760" y="4901184"/>
            <a:ext cx="7086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Review rating correlation with revenue is -0.02, so location, type and volume matter more.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5806440"/>
            <a:ext cx="10424160" cy="0"/>
          </a:xfrm>
          <a:prstGeom prst="line">
            <a:avLst/>
          </a:prstGeom>
          <a:noFill/>
          <a:ln w="15240">
            <a:solidFill>
              <a:srgbClr val="68D8D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5989320"/>
            <a:ext cx="102412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</a:rPr>
              <a:t>Strategic recommendation: expand supply in high-performing cities (Golden Triangle), invest in Bed &amp; Breakfast/Resort partnerships, retain High CLV customers, convert Medium CLV customers upward and improve cancellation management across all markets.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1124712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8D8D6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1852</Words>
  <Application>Microsoft Office PowerPoint</Application>
  <PresentationFormat>Widescreen</PresentationFormat>
  <Paragraphs>303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TravelNest Data Engineering Project</dc:title>
  <dc:subject>TravelNest Data Engineering Presentation</dc:subject>
  <dc:creator>OpenAI</dc:creator>
  <cp:lastModifiedBy>Chaybon Verlooy</cp:lastModifiedBy>
  <cp:revision>29</cp:revision>
  <dcterms:created xsi:type="dcterms:W3CDTF">2026-05-24T15:51:14Z</dcterms:created>
  <dcterms:modified xsi:type="dcterms:W3CDTF">2026-06-12T14:10:53Z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2026-05-24T17:23:31Z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5c789754-df36-4976-b30f-32dabdbfc40e</vt:lpwstr>
  </property>
  <property fmtid="{D5CDD505-2E9C-101B-9397-08002B2CF9AE}" pid="8" name="MSIP_Label_c337be75-dfbb-4261-9834-ac247c7dde13_ContentBits">
    <vt:lpwstr>0</vt:lpwstr>
  </property>
  <property fmtid="{D5CDD505-2E9C-101B-9397-08002B2CF9AE}" pid="9" name="MSIP_Label_c337be75-dfbb-4261-9834-ac247c7dde13_Tag">
    <vt:lpwstr>10, 3, 0, 1</vt:lpwstr>
  </property>
</Properties>
</file>